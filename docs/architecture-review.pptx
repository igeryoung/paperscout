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BED9FF"/>
                </a:solidFill>
                <a:latin typeface="Helvetica Neue"/>
              </a:rPr>
              <a:t>ARCHITECTURE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Helvetica Neue"/>
              </a:rPr>
              <a:t>PaperScout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Helvetica Neue"/>
              </a:rPr>
              <a:t>Automated computer-vision paper collection, evaluation &amp;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Helvetica Neue"/>
              </a:rPr>
              <a:t>Date: 2026-05-17    Branch: main    Commit: 73966fc    Stack: Next.js 16 · Prisma · PostgreSQL · Zod · Claude Code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Problem &amp;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C5582"/>
                </a:solidFill>
                <a:latin typeface="Helvetica Neue"/>
              </a:rPr>
              <a:t>• Problem: </a:t>
            </a:r>
            <a:r>
              <a:rPr sz="1500">
                <a:solidFill>
                  <a:srgbClr val="1A202C"/>
                </a:solidFill>
                <a:latin typeface="Helvetica Neue"/>
              </a:rPr>
              <a:t>≈100+ CV papers land daily across arXiv, OpenReview, Hugging Face daily-papers. No single feed; manual triage is impossible at this volume.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C5582"/>
                </a:solidFill>
                <a:latin typeface="Helvetica Neue"/>
              </a:rPr>
              <a:t>• Goal: </a:t>
            </a:r>
            <a:r>
              <a:rPr sz="1500">
                <a:solidFill>
                  <a:srgbClr val="1A202C"/>
                </a:solidFill>
                <a:latin typeface="Helvetica Neue"/>
              </a:rPr>
              <a:t>Produce a daily, ranked, bilingual (en + zh-TW) digest of ~10 recommended papers with extracted key figures and evidence-backed scores.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C5582"/>
                </a:solidFill>
                <a:latin typeface="Helvetica Neue"/>
              </a:rPr>
              <a:t>• Approach: </a:t>
            </a:r>
            <a:r>
              <a:rPr sz="1500">
                <a:solidFill>
                  <a:srgbClr val="1A202C"/>
                </a:solidFill>
                <a:latin typeface="Helvetica Neue"/>
              </a:rPr>
              <a:t>Hybrid pipeline: Claude Code skills do collection + LLM evaluation offline; a TypeScript CLI ingests + dedups + ranks into Postgres; Next.js 16 serves a read-only browse 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06240"/>
            <a:ext cx="10972800" cy="192024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D6B20"/>
                </a:solidFill>
                <a:latin typeface="Helvetica Neue"/>
              </a:rPr>
              <a:t>Non-goals (V1)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202C"/>
                </a:solidFill>
                <a:latin typeface="Helvetica Neue"/>
              </a:rPr>
              <a:t>  – Real-time / streaming ingest — daily cadence is sufficient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202C"/>
                </a:solidFill>
                <a:latin typeface="Helvetica Neue"/>
              </a:rPr>
              <a:t>  – Full-text search across paper bodies — only abstracts + extracted snippets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202C"/>
                </a:solidFill>
                <a:latin typeface="Helvetica Neue"/>
              </a:rPr>
              <a:t>  – User accounts, comments, social features (PaperFeedback table exists but UI is anonymous)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202C"/>
                </a:solidFill>
                <a:latin typeface="Helvetica Neue"/>
              </a:rPr>
              <a:t>  – Multi-domain support — frozen to computer_vision in DailyRun.domain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202C"/>
                </a:solidFill>
                <a:latin typeface="Helvetica Neue"/>
              </a:rPr>
              <a:t>  – In-product paper authoring — read-only catalogue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END-TO-END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System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554480" cy="50292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arXiv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554480" cy="50292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OpenReview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1554480" cy="50292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Hugging 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377440"/>
            <a:ext cx="1828800" cy="77724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Collect skill
(Claude Code)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4937760" y="2377440"/>
            <a:ext cx="1463040" cy="777240"/>
          </a:xfrm>
          <a:prstGeom prst="parallelogram">
            <a:avLst/>
          </a:prstGeom>
          <a:solidFill>
            <a:srgbClr val="4A5568"/>
          </a:solidFill>
          <a:ln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candidates.json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377440"/>
            <a:ext cx="1828800" cy="77724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Evaluate skill
(Stage 1 + 2)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8961120" y="2377440"/>
            <a:ext cx="1645920" cy="777240"/>
          </a:xfrm>
          <a:prstGeom prst="parallelogram">
            <a:avLst/>
          </a:prstGeom>
          <a:solidFill>
            <a:srgbClr val="4A5568"/>
          </a:solidFill>
          <a:ln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evaluations.json
+ figures/*.png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840480"/>
            <a:ext cx="3840480" cy="502920"/>
          </a:xfrm>
          <a:prstGeom prst="roundRect">
            <a:avLst/>
          </a:prstGeom>
          <a:solidFill>
            <a:srgbClr val="DD6B20"/>
          </a:solidFill>
          <a:ln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Phase 2.5 harness gate  (npm run prompt:check)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4754880"/>
            <a:ext cx="2743200" cy="64008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Ingest CLI  scripts/ingest.ts</a:t>
            </a:r>
          </a:p>
        </p:txBody>
      </p:sp>
      <p:sp>
        <p:nvSpPr>
          <p:cNvPr id="15" name="Can 14"/>
          <p:cNvSpPr/>
          <p:nvPr/>
        </p:nvSpPr>
        <p:spPr>
          <a:xfrm>
            <a:off x="7955279" y="4754880"/>
            <a:ext cx="1463040" cy="640080"/>
          </a:xfrm>
          <a:prstGeom prst="can">
            <a:avLst/>
          </a:prstGeom>
          <a:solidFill>
            <a:srgbClr val="C53D3D"/>
          </a:solidFill>
          <a:ln>
            <a:solidFill>
              <a:srgbClr val="C5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PostgreSQL
(Prisma)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4754880"/>
            <a:ext cx="1920240" cy="64008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Next.js 16 UI
/, /papers/[id], /library, /runs/[id]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1984248"/>
            <a:ext cx="548640" cy="786384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94560" y="2624328"/>
            <a:ext cx="548640" cy="146304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194560" y="2770632"/>
            <a:ext cx="548640" cy="493776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2770632"/>
            <a:ext cx="36576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00800" y="2770632"/>
            <a:ext cx="36576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95360" y="2770632"/>
            <a:ext cx="36576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686800" y="3154680"/>
            <a:ext cx="1097280" cy="68580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309360" y="4343400"/>
            <a:ext cx="2377440" cy="41148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60" y="5074920"/>
            <a:ext cx="274319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18320" y="5074920"/>
            <a:ext cx="18288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0080" y="4526280"/>
            <a:ext cx="10972800" cy="0"/>
          </a:xfrm>
          <a:prstGeom prst="line">
            <a:avLst/>
          </a:prstGeom>
          <a:ln w="9525">
            <a:solidFill>
              <a:srgbClr val="CBD5E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4160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Helvetica Neue"/>
              </a:rPr>
              <a:t>OFFLINE — Claude Code skills + harness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72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Helvetica Neue"/>
              </a:rPr>
              <a:t>ONLINE — TypeScript CLI + Next.js 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PINNED VERSIONS, PACKAGE.JSON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Layer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Component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Version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Role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Frontend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next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16.2.5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App-Router SSR, edge-ready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Frontend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react / react-dom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19.2.4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RSC + client components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Frontend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tailwindcss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^4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Utility CSS via @tailwindcss/postcss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Frontend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@radix-ui/*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~1.x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Dialog, Select, Slider, Progress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Backend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@prisma/client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^6.19.3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Postgres ORM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Backend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zod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^4.4.3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Schema validation (candidate / evaluation)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Backend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fast-xml-parser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^5.7.3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arXiv Atom feed parsing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Backend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pino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^10.3.1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Structured logging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Tooling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tsx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^4.21.0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Runs scripts/ + Prisma CLI in 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Testing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vitest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^4.1.5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Unit + integration (real Postgres)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Testing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@playwright/test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^1.59.1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Browser E2E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Dedup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fastest-levenshtein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^1.0.16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Fuzzy title matching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TOP-LEVEL + SRC/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Repo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90472"/>
            <a:ext cx="1075334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paper-collection-system/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├── src/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├── app/                       # Next.js 16 App Router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│   ├── page.tsx               # Home feed (paginated, locale-aware)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│   ├── library/, papers/[id]/, runs/[id]/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│   └── api/{locale,runs,papers/[id]/figure}/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├── server/                    # 'server-only' boundary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│   ├── schema/                # candidate.ts, evaluation.ts (Zod)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│   ├── sources/               # arxiv.ts, openreview.ts, huggingface.ts, index.ts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│   ├── dedup/                 # matcher.ts, fingerprint.ts, normalize.ts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│   ├── repos/                 # papers, evaluations, runs, runResults, trends, …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│   ├── pipeline/              # collect.ts, persist.ts, runner.ts (reserved)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│   └── lib/                   # select-evaluation.ts (best-eval picker)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├── components/ui/             # Radix + Tailwind primitives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├── lib/                       # client utils: locale, format, db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└── i18n/                      # en.ts ↔ zh-TW.ts (mirror shape)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├── prisma/                        # schema.prisma + migrations + seed.ts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├── scripts/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├── ingest.ts                  # Phase 3 ingest CLI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├── validate-{candidates,evaluations}.ts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└── prompt-eval/               # Phase 2.5 harness + F1..F5 fixtures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├── tests/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├── unit/{sources,dedup,prompt-eval}/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└── integration/{ingest,collect-persist}.test.ts   # real Postgres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├── .claude/skills/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├── collect-papers/SKILL.md    # Phase 1 spec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│   └── evaluate-papers/SKILL.md   # Phase 2 spec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└── data/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  ├── runs/&lt;YYYY-MM-DD-HHMM&gt;/    # candidates.json + evaluations.json + figures/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  └── sample/                    # reference shape for the two artefacts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THREE PHASES + A GATING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Pipeline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148840" cy="73152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Phase 1
Collect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2148840" cy="64008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0">
                <a:solidFill>
                  <a:srgbClr val="1A202C"/>
                </a:solidFill>
                <a:latin typeface="Helvetica Neue"/>
              </a:rPr>
              <a:t>candidates.json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17520"/>
            <a:ext cx="2148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0">
                <a:solidFill>
                  <a:srgbClr val="4A5568"/>
                </a:solidFill>
                <a:latin typeface="Helvetica Neue"/>
              </a:rPr>
              <a:t>Claude Code skill
(offline)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1920240"/>
            <a:ext cx="164592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53512" y="1554480"/>
            <a:ext cx="2148840" cy="73152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Phase 2a
Abstract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3512" y="2331720"/>
            <a:ext cx="2148840" cy="64008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0">
                <a:solidFill>
                  <a:srgbClr val="1A202C"/>
                </a:solidFill>
                <a:latin typeface="Helvetica Neue"/>
              </a:rPr>
              <a:t>scores + tags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53512" y="3017520"/>
            <a:ext cx="2148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0">
                <a:solidFill>
                  <a:srgbClr val="4A5568"/>
                </a:solidFill>
                <a:latin typeface="Helvetica Neue"/>
              </a:rPr>
              <a:t>Claude Code skill
(LLM eval)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02352" y="1920240"/>
            <a:ext cx="164592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66944" y="1554480"/>
            <a:ext cx="2148840" cy="73152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Phase 2b
Full-PDF top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66944" y="2331720"/>
            <a:ext cx="2148840" cy="64008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0">
                <a:solidFill>
                  <a:srgbClr val="1A202C"/>
                </a:solidFill>
                <a:latin typeface="Helvetica Neue"/>
              </a:rPr>
              <a:t>PDF + figures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6944" y="3017520"/>
            <a:ext cx="2148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0">
                <a:solidFill>
                  <a:srgbClr val="4A5568"/>
                </a:solidFill>
                <a:latin typeface="Helvetica Neue"/>
              </a:rPr>
              <a:t>Claude Code skill
(LLM + Bash)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15784" y="1920240"/>
            <a:ext cx="164592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80376" y="1554480"/>
            <a:ext cx="2148840" cy="731520"/>
          </a:xfrm>
          <a:prstGeom prst="roundRect">
            <a:avLst/>
          </a:prstGeom>
          <a:solidFill>
            <a:srgbClr val="DD6B20"/>
          </a:solidFill>
          <a:ln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Phase 2.5
Harness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2331720"/>
            <a:ext cx="2148840" cy="64008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0">
                <a:solidFill>
                  <a:srgbClr val="1A202C"/>
                </a:solidFill>
                <a:latin typeface="Helvetica Neue"/>
              </a:rPr>
              <a:t>pass / fail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0376" y="3017520"/>
            <a:ext cx="2148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0">
                <a:solidFill>
                  <a:srgbClr val="4A5568"/>
                </a:solidFill>
                <a:latin typeface="Helvetica Neue"/>
              </a:rPr>
              <a:t>tsx CLI
(local check)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29216" y="1920240"/>
            <a:ext cx="164592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93808" y="1554480"/>
            <a:ext cx="2148840" cy="73152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Phase 3
Ingest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93808" y="2331720"/>
            <a:ext cx="2148840" cy="64008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0">
                <a:solidFill>
                  <a:srgbClr val="1A202C"/>
                </a:solidFill>
                <a:latin typeface="Helvetica Neue"/>
              </a:rPr>
              <a:t>Postgres rows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93808" y="3017520"/>
            <a:ext cx="2148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0">
                <a:solidFill>
                  <a:srgbClr val="4A5568"/>
                </a:solidFill>
                <a:latin typeface="Helvetica Neue"/>
              </a:rPr>
              <a:t>tsx CLI
(idempotent)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062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Handoffs: </a:t>
            </a:r>
            <a:r>
              <a:rPr sz="1200">
                <a:solidFill>
                  <a:srgbClr val="1A202C"/>
                </a:solidFill>
                <a:latin typeface="Helvetica Neue"/>
              </a:rPr>
              <a:t>Phases 1↔2 share a run-dir; 2↔2.5 share evaluations.json; 2.5↔3 only proceeds if gate passes (≥4/5 fixtures within bounds).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Idempotency: </a:t>
            </a:r>
            <a:r>
              <a:rPr sz="1200">
                <a:solidFill>
                  <a:srgbClr val="1A202C"/>
                </a:solidFill>
                <a:latin typeface="Helvetica Neue"/>
              </a:rPr>
              <a:t>Phase 3 dedups by SHA-256 of the SKILL.md (llmPromptVersion) and refuses re-ingest of the same ingestSourceDir without --force.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Fault isolation: </a:t>
            </a:r>
            <a:r>
              <a:rPr sz="1200">
                <a:solidFill>
                  <a:srgbClr val="1A202C"/>
                </a:solidFill>
                <a:latin typeface="Helvetica Neue"/>
              </a:rPr>
              <a:t>Phase 1 uses Promise.allSettled — one source down (e.g. arXiv 503) does not block the run; failures captured in meta.errors[].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Cadence: </a:t>
            </a:r>
            <a:r>
              <a:rPr sz="1200">
                <a:solidFill>
                  <a:srgbClr val="1A202C"/>
                </a:solidFill>
                <a:latin typeface="Helvetica Neue"/>
              </a:rPr>
              <a:t>Designed for ~daily runs (~30 candidates → ~15 PDF reads → ~10 RECOMMEND). No streaming; no per-paper async pipeline.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SRC/SERVER/SOURCES/{ARXIV,OPENREVIEW,HUGGINGFACE}.TS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Phase 1 — Collection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Source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Quota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Endpoint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Parser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Per-source notes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arXiv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15 / 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export.arxiv.org/api/query
?search_query=cat:cs.CV
&amp;sortBy=submittedDate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Atom XML
fast-xml-parser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3 s self-rate-limit; extracts arXiv ID from URL; scans abstract for GitHub URLs → codeUrls[]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OpenReview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5 / 30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api2.openreview.net/notes/search
?term=computer+vision
&amp;sort=cdate:desc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JSON
(nested content.value)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Created / published dates come as epoch-ms → normalised to ISO-8601 YYYY-MM-DD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Hugging Face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10 / 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huggingface.co/api/daily_papers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JSON
(post-filtered)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Helvetica Neue"/>
                        </a:rPr>
                        <a:t>CV keyword allow-list (vision / image / video / diffusion / …); detects arXiv slug for cross-source dedup hint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623560"/>
            <a:ext cx="11247120" cy="6858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0">
                <a:solidFill>
                  <a:srgbClr val="1A202C"/>
                </a:solidFill>
                <a:latin typeface="Helvetica Neue"/>
              </a:rPr>
              <a:t>Common HTTP wrapper: src/server/sources/http.ts — AbortController timeout, dep-injectable fetch (testable). Aggregator: src/server/sources/index.ts.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SRC/SERVER/SOURCES/INDEX.TS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Phase 1 — Aggregation &amp; In-Batch Dedup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5582"/>
                </a:solidFill>
                <a:latin typeface="Helvetica Neue"/>
              </a:rPr>
              <a:t>• Parallel fetch: </a:t>
            </a:r>
            <a:r>
              <a:rPr sz="1400">
                <a:solidFill>
                  <a:srgbClr val="1A202C"/>
                </a:solidFill>
                <a:latin typeface="Helvetica Neue"/>
              </a:rPr>
              <a:t>Promise.allSettled([arxiv, openreview, huggingface]) — per-source failures are logged to meta.errors[] but never abort the run.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5582"/>
                </a:solidFill>
                <a:latin typeface="Helvetica Neue"/>
              </a:rPr>
              <a:t>• Within-batch dedup keys: </a:t>
            </a:r>
            <a:r>
              <a:rPr sz="1400">
                <a:solidFill>
                  <a:srgbClr val="1A202C"/>
                </a:solidFill>
                <a:latin typeface="Helvetica Neue"/>
              </a:rPr>
              <a:t>Exact arXiv ID, exact OpenReview ID, then normalized title (see src/server/dedup/normalize.ts).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5582"/>
                </a:solidFill>
                <a:latin typeface="Helvetica Neue"/>
              </a:rPr>
              <a:t>• Source priority on collision: </a:t>
            </a:r>
            <a:r>
              <a:rPr sz="1400">
                <a:solidFill>
                  <a:srgbClr val="1A202C"/>
                </a:solidFill>
                <a:latin typeface="Helvetica Neue"/>
              </a:rPr>
              <a:t>ARXIV (0) &gt; OPENREVIEW (1) &gt; HUGGINGFACE (2). Winner becomes the primary record; loser is folded into additionalSources[].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5582"/>
                </a:solidFill>
                <a:latin typeface="Helvetica Neue"/>
              </a:rPr>
              <a:t>• Two-pass quota enforcement: </a:t>
            </a:r>
            <a:r>
              <a:rPr sz="1400">
                <a:solidFill>
                  <a:srgbClr val="1A202C"/>
                </a:solidFill>
                <a:latin typeface="Helvetica Neue"/>
              </a:rPr>
              <a:t>(1) Per-source quotas fill greedily; (2) any deficit is back-filled from leftovers across all sources until the ~30 target is hit.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5582"/>
                </a:solidFill>
                <a:latin typeface="Helvetica Neue"/>
              </a:rPr>
              <a:t>• Output contract: </a:t>
            </a:r>
            <a:r>
              <a:rPr sz="1400">
                <a:solidFill>
                  <a:srgbClr val="1A202C"/>
                </a:solidFill>
                <a:latin typeface="Helvetica Neue"/>
              </a:rPr>
              <a:t>data/runs/&lt;YYYY-MM-DD-HHMM&gt;/candidates.json conforming to CandidatesFileSchema (Zod). Validated post-write via `npm run validate:candidates &lt;path&gt;`.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37760"/>
            <a:ext cx="2194560" cy="54864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Pass 1: per-source quotas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5212080"/>
            <a:ext cx="36576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0" y="4937760"/>
            <a:ext cx="2194560" cy="54864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Within-batch dedup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0" y="5212080"/>
            <a:ext cx="36576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60720" y="4937760"/>
            <a:ext cx="2194560" cy="54864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Pass 2: back-fill deficit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5212080"/>
            <a:ext cx="365761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21040" y="4937760"/>
            <a:ext cx="3108960" cy="54864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Write candidates.json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SRC/SERVER/SCHEMA/CANDIDATE.TS (ZOD)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CandidateRecord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7498079" cy="48463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7278623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export const SourceEnum = z.enum(['ARXIV', 'OPENREVIEW', 'HUGGINGFACE']);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export const AdditionalSourceSchema = z.object({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source: SourceEnum,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sourceUrl: z.string().url(),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sourcePaperId: z.string().min(1),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});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export const CandidateSchema = z.object({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title:             z.string().min(1),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authors:           z.array(z.string().min(1)).min(1),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abstract:          z.string().nullable(),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venue:             z.string().nullable(),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publishedDate:     z.string().regex(/^\d{4}-\d{2}-\d{2}$/, '…ISO-8601…'),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sourceUrl:         z.string().url(),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pdfUrl:            z.string().url().nullable(),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sourcePaperId:     z.string().min(1).nullable(),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source:            SourceEnum,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codeUrls:          z.array(z.string().url()).default([]),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 additionalSources: z.array(AdditionalSourceSchema).default([]),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});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export const CandidatesFileSchema = z.array(CandidateSchema);</a:t>
            </a: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1A202C"/>
                </a:solidFill>
                <a:latin typeface="Menlo"/>
              </a:rPr>
              <a:t>export type Candidate = z.infer&lt;typeof CandidateSchema&gt;;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41732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Why a separate schema file?: </a:t>
            </a:r>
            <a:r>
              <a:rPr sz="1100">
                <a:solidFill>
                  <a:srgbClr val="1A202C"/>
                </a:solidFill>
                <a:latin typeface="Helvetica Neue"/>
              </a:rPr>
              <a:t>Pure Zod — no DB / env imports — so it can be loaded by either the ingest CLI or the validate-candidates script with zero ceremony.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Cross-source bridge: </a:t>
            </a:r>
            <a:r>
              <a:rPr sz="1100">
                <a:solidFill>
                  <a:srgbClr val="1A202C"/>
                </a:solidFill>
                <a:latin typeface="Helvetica Neue"/>
              </a:rPr>
              <a:t>additionalSources[] carries hints from in-batch dedup so the Phase 3 cross-run matcher can recognise the same paper across runs.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Strictness: </a:t>
            </a:r>
            <a:r>
              <a:rPr sz="1100">
                <a:solidFill>
                  <a:srgbClr val="1A202C"/>
                </a:solidFill>
                <a:latin typeface="Helvetica Neue"/>
              </a:rPr>
              <a:t>Every string field is min-1; publishedDate is regex-validated; URLs are .url() validated.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File location: </a:t>
            </a:r>
            <a:r>
              <a:rPr sz="1100">
                <a:solidFill>
                  <a:srgbClr val="1A202C"/>
                </a:solidFill>
                <a:latin typeface="Helvetica Neue"/>
              </a:rPr>
              <a:t>src/server/schema/candidate.ts (33 LoC)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.CLAUDE/SKILLS/EVALUATE-PAPERS/SKILL.MD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Phase 2a — Abstract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148840" cy="91440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Novelty
0 –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417320"/>
            <a:ext cx="2148840" cy="91440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Methodological
Rigor
0 –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417320"/>
            <a:ext cx="2148840" cy="91440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Experimental
Quality
0 –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417320"/>
            <a:ext cx="2148840" cy="91440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Venue
Credibility
0 –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417320"/>
            <a:ext cx="2148840" cy="91440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Author / Inst
Reputation
0 –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3200400" cy="64008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300" b="1">
                <a:solidFill>
                  <a:srgbClr val="1A202C"/>
                </a:solidFill>
                <a:latin typeface="Helvetica Neue"/>
              </a:rPr>
              <a:t>TOTAL  =  Σ five dimensions  ∈ 0..100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514600"/>
            <a:ext cx="2560320" cy="64008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≥ 65  →  RECOMMEND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514600"/>
            <a:ext cx="2560320" cy="640080"/>
          </a:xfrm>
          <a:prstGeom prst="roundRect">
            <a:avLst/>
          </a:prstGeom>
          <a:solidFill>
            <a:srgbClr val="DD6B20"/>
          </a:solidFill>
          <a:ln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50 – 64  →  STORE_ONLY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514600"/>
            <a:ext cx="2560320" cy="640080"/>
          </a:xfrm>
          <a:prstGeom prst="roundRect">
            <a:avLst/>
          </a:prstGeom>
          <a:solidFill>
            <a:srgbClr val="C53D3D"/>
          </a:solidFill>
          <a:ln>
            <a:solidFill>
              <a:srgbClr val="C5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&lt; 50  →  LOW_QUALITY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Inputs: </a:t>
            </a:r>
            <a:r>
              <a:rPr sz="1200">
                <a:solidFill>
                  <a:srgbClr val="1A202C"/>
                </a:solidFill>
                <a:latin typeface="Helvetica Neue"/>
              </a:rPr>
              <a:t>Title, authors, abstract, venue, source metadata only — no PDF fetch yet.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Coverage: </a:t>
            </a:r>
            <a:r>
              <a:rPr sz="1200">
                <a:solidFill>
                  <a:srgbClr val="1A202C"/>
                </a:solidFill>
                <a:latin typeface="Helvetica Neue"/>
              </a:rPr>
              <a:t>All ~30 candidates are scored. Schema enforces scores.total = Σ five dims via z.refine (otherwise the file fails validation).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Bilingual outputs: </a:t>
            </a:r>
            <a:r>
              <a:rPr sz="1200">
                <a:solidFill>
                  <a:srgbClr val="1A202C"/>
                </a:solidFill>
                <a:latin typeface="Helvetica Neue"/>
              </a:rPr>
              <a:t>summary, recommendationReason, rankingExplanation are all { en, 'zh-TW' } — both locales required, min-1 char each.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Tags: </a:t>
            </a:r>
            <a:r>
              <a:rPr sz="1200">
                <a:solidFill>
                  <a:srgbClr val="1A202C"/>
                </a:solidFill>
                <a:latin typeface="Helvetica Neue"/>
              </a:rPr>
              <a:t>2 – 5 lowercase English keywords (e.g. 'vision-transformer', 'segmentation'). Tags are NOT bilingual — they are stable indexes.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Stage marker: </a:t>
            </a:r>
            <a:r>
              <a:rPr sz="1200">
                <a:solidFill>
                  <a:srgbClr val="1A202C"/>
                </a:solidFill>
                <a:latin typeface="Helvetica Neue"/>
              </a:rPr>
              <a:t>evaluationStage = 'ABSTRACT_SCREENING'; pdfAnalysisStatus, keyContribution, methodologySummary, strengths, weaknesses, figure MUST be null at this stage (enforced by superRefine).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PDF TRUNCATE + REFINE + FIGURE PULL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Phase 2b — Full-PDF Read (top 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783080" cy="86868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Rank Stage-1
by total → top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1984248"/>
            <a:ext cx="9144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1554480"/>
            <a:ext cx="1783080" cy="86868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curl
32 MB / 60 s cap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1984248"/>
            <a:ext cx="9144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51960" y="1554480"/>
            <a:ext cx="1783080" cy="86868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pdftotext +
appendix marker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1984248"/>
            <a:ext cx="9144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6480" y="1554480"/>
            <a:ext cx="1783080" cy="86868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qpdf --pages 1..N
truncate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09560" y="1984248"/>
            <a:ext cx="9144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01000" y="1554480"/>
            <a:ext cx="1783080" cy="86868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Read tool
(LLM ingest)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1984248"/>
            <a:ext cx="9144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75520" y="1554480"/>
            <a:ext cx="1783080" cy="86868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Refine scores +
fill narratives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88920"/>
            <a:ext cx="11247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Prereqs (Bash): </a:t>
            </a:r>
            <a:r>
              <a:rPr sz="1200">
                <a:solidFill>
                  <a:srgbClr val="1A202C"/>
                </a:solidFill>
                <a:latin typeface="Helvetica Neue"/>
              </a:rPr>
              <a:t>poppler (pdftotext, pdftocairo) and qpdf must be on PATH. The skill aborts that PDF if either is missing.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Truncation heuristic: </a:t>
            </a:r>
            <a:r>
              <a:rPr sz="1200">
                <a:solidFill>
                  <a:srgbClr val="1A202C"/>
                </a:solidFill>
                <a:latin typeface="Helvetica Neue"/>
              </a:rPr>
              <a:t>Scan text for 'Appendix' or 'Supplementary Material'; qpdf --pages 1-&lt;n&gt; slices off everything from that page on. Fallback: keep entire PDF (n/a or marker on page 1).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Refined fields (bilingual, all required when SUCCESS): </a:t>
            </a:r>
            <a:r>
              <a:rPr sz="1200">
                <a:solidFill>
                  <a:srgbClr val="1A202C"/>
                </a:solidFill>
                <a:latin typeface="Helvetica Neue"/>
              </a:rPr>
              <a:t>keyContribution (1–2 sent.), methodologySummary (2–3 sent.), strengths[] (3–5 per locale), weaknesses[] (2–4 per locale). List lengths AND order must mirror across en ↔ zh-TW.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Stage marker on failure: </a:t>
            </a:r>
            <a:r>
              <a:rPr sz="1200">
                <a:solidFill>
                  <a:srgbClr val="1A202C"/>
                </a:solidFill>
                <a:latin typeface="Helvetica Neue"/>
              </a:rPr>
              <a:t>pdfAnalysisStatus = 'FAILED' (parse error) | 'UNAVAILABLE' (fetch / size cap). Stage-1 record is preserved verbatim — no refinement claimed without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TWO-PASS RENDER VIA PDFTOCAIRO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Phase 2b — Figure Extraction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286000" cy="86868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Pass 1: preview
pdftocairo -png -r 72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88920" y="1984248"/>
            <a:ext cx="18288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71800" y="1554480"/>
            <a:ext cx="2560320" cy="86868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LLM picks figure +
estimates bbox (x,y,w,h)
as frac of page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32120" y="1984248"/>
            <a:ext cx="18288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715000" y="1554480"/>
            <a:ext cx="2834640" cy="86868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Pass 2: crop
pdftocairo -png -r 150
-x -y -W -H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49640" y="1984248"/>
            <a:ext cx="182880" cy="0"/>
          </a:xfrm>
          <a:prstGeom prst="line">
            <a:avLst/>
          </a:prstGeom>
          <a:ln w="19050">
            <a:solidFill>
              <a:srgbClr val="2C55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32520" y="1554480"/>
            <a:ext cx="3017520" cy="86868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figures/&lt;safe-id&gt;.png
+ FigureSchema 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11247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Preference order: </a:t>
            </a:r>
            <a:r>
              <a:rPr sz="1200">
                <a:solidFill>
                  <a:srgbClr val="1A202C"/>
                </a:solidFill>
                <a:latin typeface="Helvetica Neue"/>
              </a:rPr>
              <a:t>Architecture diagram  &gt;  main result figure  &gt;  Figure 1 / teaser.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Caption rules: </a:t>
            </a:r>
            <a:r>
              <a:rPr sz="1200">
                <a:solidFill>
                  <a:srgbClr val="1A202C"/>
                </a:solidFill>
                <a:latin typeface="Helvetica Neue"/>
              </a:rPr>
              <a:t>caption.en = verbatim from PDF (trim 'Figure N:' prefix), ≤ 240 chars. caption.zh-TW = faithful Traditional-Chinese translation, ≤ 240 chars. Both enforced by Zod max-length.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Storage: </a:t>
            </a:r>
            <a:r>
              <a:rPr sz="1200">
                <a:solidFill>
                  <a:srgbClr val="1A202C"/>
                </a:solidFill>
                <a:latin typeface="Helvetica Neue"/>
              </a:rPr>
              <a:t>renderedPath is RELATIVE to the run dir (e.g. 'figures/2605.12345.png'). Ingest reads those bytes and stores them in PaperFigure.imageBytes (BYTEA).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Invariant: </a:t>
            </a:r>
            <a:r>
              <a:rPr sz="1200">
                <a:solidFill>
                  <a:srgbClr val="1A202C"/>
                </a:solidFill>
                <a:latin typeface="Helvetica Neue"/>
              </a:rPr>
              <a:t>figure may only be non-null when pdfAnalysisStatus = 'SUCCESS' — enforced by EvaluationSchema.superRefine.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SRC/SERVER/SCHEMA/EVALUATION.TS — SUPERREFINE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EvaluationRecord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7680960" cy="47548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7461504" cy="460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const localizedString = (opts = {}) =&gt; z.object({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en:        opts.max ? z.string().min(1).max(opts.max) : z.string().min(1),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'zh-TW':   opts.max ? z.string().min(1).max(opts.max) : z.string().min(1),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}).strict();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export const ScoresSchema = z.object({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novelty:                      z.number().int().min(0).max(25),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methodologicalRigor:          z.number().int().min(0).max(25),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experimentalQuality:          z.number().int().min(0).max(20),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venueSourceCredibility:       z.number().int().min(0).max(15),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authorInstitutionReputation:  z.number().int().min(0).max(15),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total:                        z.number().int().min(0).max(100),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}).refine(s =&gt; s.total === &lt;sum of 5&gt;, { message: '…' });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export const EvaluationSchema = z.object({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joinKey:                { source, sourcePaperId },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evaluationStage:        z.enum(['ABSTRACT_SCREENING', 'FULL_PDF']),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scores:                 ScoresSchema,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summary:                localizedString(),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recommendationReason:   localizedString(),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keyContribution:        localizedString().nullable(),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methodologySummary:     localizedString().nullable(),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strengths:              localizedStringList.nullable(),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weaknesses:             localizedStringList.nullable(),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tags:                   z.array(z.string().min(1)).default([]),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rankingExplanation:     localizedString(),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recommendationDecision: z.enum(['RECOMMEND','STORE_ONLY','LOW_QUALITY']),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pdfAnalysisStatus:      z.enum(['SUCCESS','FAILED','UNAVAILABLE']).nullable(),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  figure:                 FigureSchema.nullable().default(null),</a:t>
            </a:r>
          </a:p>
          <a:p>
            <a:pPr algn="l">
              <a:lnSpc>
                <a:spcPct val="110000"/>
              </a:lnSpc>
            </a:pPr>
            <a:r>
              <a:rPr sz="900">
                <a:solidFill>
                  <a:srgbClr val="1A202C"/>
                </a:solidFill>
                <a:latin typeface="Menlo"/>
              </a:rPr>
              <a:t>}).superRefine(/* cross-field invariants — see next box */)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Cross-field invariants (lines 84–139): </a:t>
            </a:r>
            <a:r>
              <a:rPr sz="1100">
                <a:solidFill>
                  <a:srgbClr val="1A202C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stage == FULL_PDF: </a:t>
            </a:r>
            <a:r>
              <a:rPr sz="1100">
                <a:solidFill>
                  <a:srgbClr val="1A202C"/>
                </a:solidFill>
                <a:latin typeface="Helvetica Neue"/>
              </a:rPr>
              <a:t>pdfAnalysisStatus required.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pdfAnalysisStatus == SUCCESS: </a:t>
            </a:r>
            <a:r>
              <a:rPr sz="1100">
                <a:solidFill>
                  <a:srgbClr val="1A202C"/>
                </a:solidFill>
                <a:latin typeface="Helvetica Neue"/>
              </a:rPr>
              <a:t>keyContribution, methodologySummary, strengths, weaknesses all required (≥ 1 per locale).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stage == ABSTRACT_SCREENING: </a:t>
            </a:r>
            <a:r>
              <a:rPr sz="1100">
                <a:solidFill>
                  <a:srgbClr val="1A202C"/>
                </a:solidFill>
                <a:latin typeface="Helvetica Neue"/>
              </a:rPr>
              <a:t>pdfAnalysisStatus MUST be null; figure MUST be null.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figure: </a:t>
            </a:r>
            <a:r>
              <a:rPr sz="1100">
                <a:solidFill>
                  <a:srgbClr val="1A202C"/>
                </a:solidFill>
                <a:latin typeface="Helvetica Neue"/>
              </a:rPr>
              <a:t>may only exist when pdfAnalysisStatus == SUCCESS — irrespective of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SCHEMA-ENFORCED EN + ZH-TW ACROSS 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Bilingual-First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247120" cy="14173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11027664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1A202C"/>
                </a:solidFill>
                <a:latin typeface="Menlo"/>
              </a:rPr>
              <a:t>// src/server/schema/evaluation.ts</a:t>
            </a: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1A202C"/>
                </a:solidFill>
                <a:latin typeface="Menlo"/>
              </a:rPr>
              <a:t>export const SUPPORTED_LOCALES = ['en', 'zh-TW'] as const;</a:t>
            </a: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1A202C"/>
                </a:solidFill>
                <a:latin typeface="Menlo"/>
              </a:rPr>
              <a:t>type LocalizedString     = { en: string; 'zh-TW': string };</a:t>
            </a: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1A202C"/>
                </a:solidFill>
                <a:latin typeface="Menlo"/>
              </a:rPr>
              <a:t>type LocalizedStringList = { en: string[]; 'zh-TW': string[] };</a:t>
            </a: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1A202C"/>
                </a:solidFill>
                <a:latin typeface="Menlo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1A202C"/>
                </a:solidFill>
                <a:latin typeface="Menlo"/>
              </a:rPr>
              <a:t>// .strict() =&gt; extra locales are a validation error</a:t>
            </a: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1A202C"/>
                </a:solidFill>
                <a:latin typeface="Menlo"/>
              </a:rPr>
              <a:t>// list lengths and order MUST mirror across en ↔ zh-TW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17520"/>
            <a:ext cx="5486400" cy="45720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Backend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A202C"/>
                </a:solidFill>
                <a:latin typeface="Helvetica Neue"/>
              </a:rPr>
              <a:t>• Every narrative field of EvaluationRecord is bilingual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1A202C"/>
                </a:solidFill>
                <a:latin typeface="Helvetica Neue"/>
              </a:rPr>
              <a:t>• strengths[].en[i] ↔ strengths['zh-TW'][i] — index-aligned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1A202C"/>
                </a:solidFill>
                <a:latin typeface="Helvetica Neue"/>
              </a:rPr>
              <a:t>• 1:1 sentence alignment within each pair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1A202C"/>
                </a:solidFill>
                <a:latin typeface="Helvetica Neue"/>
              </a:rPr>
              <a:t>• Technical terms (ViT, ImageNet-1k) kept verbatim in zh-TW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1A202C"/>
                </a:solidFill>
                <a:latin typeface="Helvetica Neue"/>
              </a:rPr>
              <a:t>• Tags are English-only (stable index keys, not display strings)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1A202C"/>
                </a:solidFill>
                <a:latin typeface="Helvetica Neue"/>
              </a:rPr>
              <a:t>• DB columns store the raw JSON (`Json?` in PaperEvaluation)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017520"/>
            <a:ext cx="5486400" cy="45720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Frontend rendering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52044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A202C"/>
                </a:solidFill>
                <a:latin typeface="Helvetica Neue"/>
              </a:rPr>
              <a:t>• Cookie `locale` ∈ {en, zh-TW}; API: /api/locale (route handler)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1A202C"/>
                </a:solidFill>
                <a:latin typeface="Helvetica Neue"/>
              </a:rPr>
              <a:t>• src/lib/locale.ts exports pickLocalized(value, locale)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1A202C"/>
                </a:solidFill>
                <a:latin typeface="Helvetica Neue"/>
              </a:rPr>
              <a:t>• Messages catalogs: src/i18n/en.ts ↔ src/i18n/zh-TW.ts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1A202C"/>
                </a:solidFill>
                <a:latin typeface="Helvetica Neue"/>
              </a:rPr>
              <a:t>• Catalogs must mirror shape (keys, depth) — values differ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1A202C"/>
                </a:solidFill>
                <a:latin typeface="Helvetica Neue"/>
              </a:rPr>
              <a:t>• common.{sources,decisions} marked `as const` for typed keys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1A202C"/>
                </a:solidFill>
                <a:latin typeface="Helvetica Neue"/>
              </a:rPr>
              <a:t>• Body fields (summary, etc.) selected at render time, not at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SCRIPTS/PROMPT-EVAL/ — GATES EVALUATION QUALITY BEFORE INGEST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Phase 2.5 — Prompt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Why: </a:t>
            </a:r>
            <a:r>
              <a:rPr sz="1200">
                <a:solidFill>
                  <a:srgbClr val="1A202C"/>
                </a:solidFill>
                <a:latin typeface="Helvetica Neue"/>
              </a:rPr>
              <a:t>LLM outputs drift between model versions and prompt edits. Without a gate, regressions silently propagate to Postgres.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Fixtures (F1 … F5): </a:t>
            </a:r>
            <a:r>
              <a:rPr sz="1200">
                <a:solidFill>
                  <a:srgbClr val="1A202C"/>
                </a:solidFill>
                <a:latin typeface="Helvetica Neue"/>
              </a:rPr>
              <a:t>5 hand-curated CV papers spanning the quality spectrum, each with metadata.json (CandidateSchema + _fixture block) and bounds.json (per-dimension min/max + allowed enums).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Gate logic (check-evaluations.ts, ~lines 124–142): </a:t>
            </a:r>
            <a:r>
              <a:rPr sz="1200">
                <a:solidFill>
                  <a:srgbClr val="1A202C"/>
                </a:solidFill>
                <a:latin typeface="Helvetica Neue"/>
              </a:rPr>
              <a:t>PASS iff:  all records pass EvaluationSchema  AND  ≥ 4 of 5 fixtures within bounds  AND  every joinKey resolves  AND  fixture coverage is complete (no missing / duplicate / unexpected).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Coarse ranking flags (informational): </a:t>
            </a:r>
            <a:r>
              <a:rPr sz="1200">
                <a:solidFill>
                  <a:srgbClr val="1A202C"/>
                </a:solidFill>
                <a:latin typeface="Helvetica Neue"/>
              </a:rPr>
              <a:t>f1InTop2 (highest-quality fixture in top 2), f5InBottom2 (lowest-quality fixture in bottom 2), f4NotLast (mid-tier not last).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Versioning: </a:t>
            </a:r>
            <a:r>
              <a:rPr sz="1200">
                <a:solidFill>
                  <a:srgbClr val="1A202C"/>
                </a:solidFill>
                <a:latin typeface="Helvetica Neue"/>
              </a:rPr>
              <a:t>Phase 3 records SHA-256(SKILL.md)[0:12] as llmPromptVersion on every PaperEvaluation — provenance survives across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3657600" cy="64008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npm run prompt:fixtures
→ build reference run from F1..F5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5029200"/>
            <a:ext cx="3657600" cy="640080"/>
          </a:xfrm>
          <a:prstGeom prst="roundRect">
            <a:avLst/>
          </a:prstGeom>
          <a:solidFill>
            <a:srgbClr val="DD6B20"/>
          </a:solidFill>
          <a:ln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npm run prompt:check  &lt;run-dir&gt;
→ exits 1 on gate failure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5029200"/>
            <a:ext cx="3566160" cy="64008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npm run prompt:normalize
→ post-ingest stat 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SCRIPTS/INGEST.TS  (NPM RUN INGEST &lt;RUN-DIR&gt;)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Phase 3 — Ingest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1. Validate: </a:t>
            </a:r>
            <a:r>
              <a:rPr sz="1200">
                <a:solidFill>
                  <a:srgbClr val="1A202C"/>
                </a:solidFill>
                <a:latin typeface="Helvetica Neue"/>
              </a:rPr>
              <a:t>Zod-parse candidates.json + evaluations.json; every evaluation joinKey must resolve to a candidate (else fail-fast).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2. Idempotency: </a:t>
            </a:r>
            <a:r>
              <a:rPr sz="1200">
                <a:solidFill>
                  <a:srgbClr val="1A202C"/>
                </a:solidFill>
                <a:latin typeface="Helvetica Neue"/>
              </a:rPr>
              <a:t>DailyRun is keyed by ingestSourceDir (UNIQUE). If already ingested, exit cleanly; `--force` cascade-deletes the prior DailyRun first.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3. Prompt version: </a:t>
            </a:r>
            <a:r>
              <a:rPr sz="1200">
                <a:solidFill>
                  <a:srgbClr val="1A202C"/>
                </a:solidFill>
                <a:latin typeface="Helvetica Neue"/>
              </a:rPr>
              <a:t>SHA-256(.claude/skills/evaluate-papers/SKILL.md)[0:12] — stamped on every new PaperEvaluation as llmPromptVersion.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4. Cross-run dedup: </a:t>
            </a:r>
            <a:r>
              <a:rPr sz="1200">
                <a:solidFill>
                  <a:srgbClr val="1A202C"/>
                </a:solidFill>
                <a:latin typeface="Helvetica Neue"/>
              </a:rPr>
              <a:t>src/server/dedup/matcher.ts findMatch() — see Slide 17.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5. Persist candidates: </a:t>
            </a:r>
            <a:r>
              <a:rPr sz="1200">
                <a:solidFill>
                  <a:srgbClr val="1A202C"/>
                </a:solidFill>
                <a:latin typeface="Helvetica Neue"/>
              </a:rPr>
              <a:t>Upsert Paper (by duplicateFingerprint), insert PaperSource for primary + each additionalSource.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6. Persist evaluations + figures: </a:t>
            </a:r>
            <a:r>
              <a:rPr sz="1200">
                <a:solidFill>
                  <a:srgbClr val="1A202C"/>
                </a:solidFill>
                <a:latin typeface="Helvetica Neue"/>
              </a:rPr>
              <a:t>Insert PaperEvaluation (unique on (paperId, runId, stage)); read PNG bytes from disk, insert PaperFigure.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7. Rank &amp; flag: </a:t>
            </a:r>
            <a:r>
              <a:rPr sz="1200">
                <a:solidFill>
                  <a:srgbClr val="1A202C"/>
                </a:solidFill>
                <a:latin typeface="Helvetica Neue"/>
              </a:rPr>
              <a:t>src/server/lib/select-evaluation.ts picks the 'best' eval per paper (SUCCESS &gt; ABSTRACT &gt; FAILED/UNAVAILABLE), then orders by totalScore. Writes finalRank + isRecommended into PaperRunResult.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C5582"/>
                </a:solidFill>
                <a:latin typeface="Helvetica Neue"/>
              </a:rPr>
              <a:t>• 8. Finalize: </a:t>
            </a:r>
            <a:r>
              <a:rPr sz="1200">
                <a:solidFill>
                  <a:srgbClr val="1A202C"/>
                </a:solidFill>
                <a:latin typeface="Helvetica Neue"/>
              </a:rPr>
              <a:t>DailyRun.status = COMPLETED, completedAt = now(). Prints summary (papers / evals / figures / wall-time).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SRC/SERVER/DEDUP/{MATCHER,FINGERPRINT,NORMALIZE}.TS → PAPERDUPLICATE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Cross-Run Dedup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#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MatchMethod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Confidence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When it triggers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ARXIV_ID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PaperSource where source=ARXIV AND sourcePaperId == new 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Same arXiv preprint reposted or seen on another source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OPENREVIEW_ID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PaperSource where source=OPENREVIEW AND sourcePaperId == new id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Same OpenReview submission re-encountered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PDF_URL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0.95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Exact-match PaperSource.pdfUrl (canonicalised)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Mirror / alternate landing page with same PDF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SOURCE_URL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0.90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Exact-match PaperSource.sourceUrl (canonicalised)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Same listing URL pulled by a different fetcher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NORMALIZED_TITLE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0.85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Paper.normalizedTitle == normalize(new title)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Title-collision after whitespace/case/punct normalisation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FUZZY_TITLE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var.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fastest-levenshtein over normalised titles ≥ threshold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Camera-ready vs preprint title drift, minor typo edits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532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Order matters: </a:t>
            </a:r>
            <a:r>
              <a:rPr sz="1100">
                <a:solidFill>
                  <a:srgbClr val="1A202C"/>
                </a:solidFill>
                <a:latin typeface="Helvetica Neue"/>
              </a:rPr>
              <a:t>matcher.ts tries methods 1→6 in order; first hit wins. Each match creates a PaperDuplicate row (canonicalPaperId, duplicatePaperId, matchMethod, confidence) — full audit trail.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Deterministic fingerprint: </a:t>
            </a:r>
            <a:r>
              <a:rPr sz="1100">
                <a:solidFill>
                  <a:srgbClr val="1A202C"/>
                </a:solidFill>
                <a:latin typeface="Helvetica Neue"/>
              </a:rPr>
              <a:t>Paper.duplicateFingerprint is the canonical write-once dedup key (unique index), derived from (primarySource, sourcePaperId | normalisedTitle).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PRISMA/SCHEMA.PRISMA — 10 MODELS,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Database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0" y="3154680"/>
            <a:ext cx="210312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Paper
(id, title, normalizedTitle,
duplicateFingerprint)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1691640"/>
            <a:ext cx="2011680" cy="64008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PaperSource
(primary + extras)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40" y="2011680.0"/>
            <a:ext cx="1280160" cy="1531620.0"/>
          </a:xfrm>
          <a:prstGeom prst="line">
            <a:avLst/>
          </a:prstGeom>
          <a:ln w="12700">
            <a:solidFill>
              <a:srgbClr val="CBD5E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737360" y="3154680"/>
            <a:ext cx="2011680" cy="64008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PaperFigure
(BYTEA imageBytes)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40" y="3474720.0"/>
            <a:ext cx="1280160" cy="68580.0"/>
          </a:xfrm>
          <a:prstGeom prst="line">
            <a:avLst/>
          </a:prstGeom>
          <a:ln w="12700">
            <a:solidFill>
              <a:srgbClr val="CBD5E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37360" y="4617720"/>
            <a:ext cx="2011680" cy="64008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PaperTag
(LLM / USER)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749040" y="3543300"/>
            <a:ext cx="1280160" cy="1394460.0"/>
          </a:xfrm>
          <a:prstGeom prst="line">
            <a:avLst/>
          </a:prstGeom>
          <a:ln w="12700">
            <a:solidFill>
              <a:srgbClr val="CBD5E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03920" y="1691640"/>
            <a:ext cx="2286000" cy="64008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PaperCodeLink
(github / pwc / …)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132320" y="2011680.0"/>
            <a:ext cx="1371600" cy="1531620.0"/>
          </a:xfrm>
          <a:prstGeom prst="line">
            <a:avLst/>
          </a:prstGeom>
          <a:ln w="12700">
            <a:solidFill>
              <a:srgbClr val="CBD5E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03920" y="3154680"/>
            <a:ext cx="265176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2C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PaperEvaluation
(5 score cols + JSON narratives)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132320" y="3543300.0"/>
            <a:ext cx="1371600" cy="0.0"/>
          </a:xfrm>
          <a:prstGeom prst="line">
            <a:avLst/>
          </a:prstGeom>
          <a:ln w="12700">
            <a:solidFill>
              <a:srgbClr val="CBD5E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03920" y="4617720"/>
            <a:ext cx="2651760" cy="777240"/>
          </a:xfrm>
          <a:prstGeom prst="roundRect">
            <a:avLst/>
          </a:prstGeom>
          <a:solidFill>
            <a:srgbClr val="DD6B20"/>
          </a:solidFill>
          <a:ln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PaperDuplicate
(canonical ↔ dup, matchMethod)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7132320" y="3543300"/>
            <a:ext cx="1371600" cy="1463040.0"/>
          </a:xfrm>
          <a:prstGeom prst="line">
            <a:avLst/>
          </a:prstGeom>
          <a:ln w="12700">
            <a:solidFill>
              <a:srgbClr val="CBD5E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737360" y="5715000"/>
            <a:ext cx="2011680" cy="640080"/>
          </a:xfrm>
          <a:prstGeom prst="roundRect">
            <a:avLst/>
          </a:prstGeom>
          <a:solidFill>
            <a:srgbClr val="4A5568"/>
          </a:solidFill>
          <a:ln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PaperFeedback
(star, comment)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749040" y="3543300"/>
            <a:ext cx="1280160" cy="2491740.0"/>
          </a:xfrm>
          <a:prstGeom prst="line">
            <a:avLst/>
          </a:prstGeom>
          <a:ln w="12700">
            <a:solidFill>
              <a:srgbClr val="CBD5E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34840" y="5212080"/>
            <a:ext cx="1828800" cy="594360"/>
          </a:xfrm>
          <a:prstGeom prst="roundRect">
            <a:avLst/>
          </a:prstGeom>
          <a:solidFill>
            <a:srgbClr val="C53D3D"/>
          </a:solidFill>
          <a:ln>
            <a:solidFill>
              <a:srgbClr val="C5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DailyRun
(id, runDate, status)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212080"/>
            <a:ext cx="1828800" cy="594360"/>
          </a:xfrm>
          <a:prstGeom prst="roundRect">
            <a:avLst/>
          </a:prstGeom>
          <a:solidFill>
            <a:srgbClr val="C53D3D"/>
          </a:solidFill>
          <a:ln>
            <a:solidFill>
              <a:srgbClr val="C5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PaperRunResult
(finalRank, isRecommended)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349240" y="3931920"/>
            <a:ext cx="137160" cy="1280160"/>
          </a:xfrm>
          <a:prstGeom prst="line">
            <a:avLst/>
          </a:prstGeom>
          <a:ln w="12700">
            <a:solidFill>
              <a:srgbClr val="CBD5E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400800" y="3931920"/>
            <a:ext cx="457200" cy="1280160"/>
          </a:xfrm>
          <a:prstGeom prst="line">
            <a:avLst/>
          </a:prstGeom>
          <a:ln w="12700">
            <a:solidFill>
              <a:srgbClr val="CBD5E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263640" y="5486400"/>
            <a:ext cx="137160" cy="0"/>
          </a:xfrm>
          <a:prstGeom prst="line">
            <a:avLst/>
          </a:prstGeom>
          <a:ln w="12700">
            <a:solidFill>
              <a:srgbClr val="CBD5E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2920" y="6446520"/>
            <a:ext cx="11247120" cy="36576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0">
                <a:solidFill>
                  <a:srgbClr val="4A5568"/>
                </a:solidFill>
                <a:latin typeface="Helvetica Neue"/>
              </a:rPr>
              <a:t>Bilingual JSON columns: summary, keyContribution, methodologySummary, strengths, weaknesses, rankingExplanation, recommendationReason, PaperFigure.caption — stored as Prisma `Json?`.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NEXT.JS 16 APP ROUTER, SERVER-ONLY REPOS, I18N COOKIE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Frontend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Route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Type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Backing repo(s)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Notes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/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RSC page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runsRepo, runResultsRepo, trendsRepo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Home feed (10 / page), sidebar tags, hot topics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/library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RSC page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papersRepo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Filterable browse — in progress (controls partly disabled)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/papers/[id]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RSC page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papersRepo, evaluationsRepo, sourcesRepo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Single-paper detail (all evals, sources, code links)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/runs/[id]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RSC page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runsRepo, runResultsRepo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Per-run summary + ranked paper list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/api/locale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Route handler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POST sets `locale` cookie (∈ en, zh-TW)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/api/runs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Route handler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runsRepo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JSON listing of recent DailyRuns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/api/papers/[id]/figure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Route handler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figuresRepo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Serves PaperFigure.imageBytes as image/png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9377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Server boundary: </a:t>
            </a:r>
            <a:r>
              <a:rPr sz="1100">
                <a:solidFill>
                  <a:srgbClr val="1A202C"/>
                </a:solidFill>
                <a:latin typeface="Helvetica Neue"/>
              </a:rPr>
              <a:t>src/server/** files are `'server-only'` — accidentally importing into a client component is a build error. UI talks to data via the repository layer (src/server/repos/*), never raw Prisma.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Best-evaluation selection: </a:t>
            </a:r>
            <a:r>
              <a:rPr sz="1100">
                <a:solidFill>
                  <a:srgbClr val="1A202C"/>
                </a:solidFill>
                <a:latin typeface="Helvetica Neue"/>
              </a:rPr>
              <a:t>src/server/lib/select-evaluation.ts picks SUCCESS &gt; ABSTRACT &gt; FAILED|UNAVAILABLE — same logic shared by ingest ranking and UI display.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C5582"/>
                </a:solidFill>
                <a:latin typeface="Helvetica Neue"/>
              </a:rPr>
              <a:t>• Locale render: </a:t>
            </a:r>
            <a:r>
              <a:rPr sz="1100">
                <a:solidFill>
                  <a:srgbClr val="1A202C"/>
                </a:solidFill>
                <a:latin typeface="Helvetica Neue"/>
              </a:rPr>
              <a:t>src/lib/locale.ts pickLocalized() runs at the component level — the API ships both locales; the client picks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VITEST (UNIT + INTEGRATION) + PLAYWRIGHT (E2E) + ZOD CLI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Testing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417320"/>
          <a:ext cx="115214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</a:rPr>
                        <a:t>Tier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</a:rPr>
                        <a:t>Tool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</a:rPr>
                        <a:t>Location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</a:rPr>
                        <a:t>Coverage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</a:rPr>
                        <a:t>Run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Unit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Vitest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tests/unit/{sources,dedup,prompt-eval}/*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parseArxivAtom · parseOpenReview · parseHuggingFace · dedupWithinBatch · normalize · fingerprint · matcher findMatch · prompt bounds + check-evaluations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npm test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Integration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Vitest + real Postgres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tests/integration/{ingest,collect-persist}.test.ts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Full ingest of sample run · figure rows · idempotency + --force · Phase 2.5 reference run · alt-source joinKey · fuzzy-collision · fail-fast on missing eval · 3-run cross-run dedup (exact + fuzzy)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RUN_INTEGRATION=1
npm run test:integration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E2E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Playwright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tests/e2e/* (config: playwright.config.ts)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Browser walk-throughs of /, /papers/[id], /library, /runs/[id]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npm run test:e2e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Schema gate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Zod CLI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scripts/validate-{candidates,evaluations}.ts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Parses a run dir against CandidatesFileSchema / EvaluationsFileSchema and exits 1 on mismatch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npm run validate:candidates ./data/runs/…
npm run validate:evaluations ./data/runs/…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Prompt gate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Custom harness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scripts/prompt-eval/check-evaluations.ts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Schema + per-fixture bounds + ranking coarse-flags (see Slide 15)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Helvetica Neue"/>
                        </a:rPr>
                        <a:t>npm run prompt:check  ./data/runs/…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126480"/>
            <a:ext cx="11247120" cy="36576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000" b="0">
                <a:solidFill>
                  <a:srgbClr val="4A5568"/>
                </a:solidFill>
                <a:latin typeface="Helvetica Neue"/>
              </a:rPr>
              <a:t>Integration tests use a dedicated test DB (`DATABASE_URL_TEST`); tests/integration/setup.ts handles setup / cleanup per 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C5582"/>
                </a:solidFill>
                <a:latin typeface="Helvetica Neue"/>
              </a:rPr>
              <a:t>DISCUSSION POINTS FOR THE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Helvetica Neue"/>
              </a:rPr>
              <a:t>Open Questions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417320"/>
          <a:ext cx="115214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Area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Risk / Open question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Today's mitigation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Suggested follow-up</a:t>
                      </a:r>
                    </a:p>
                  </a:txBody>
                  <a:tcPr marL="73152" marR="73152">
                    <a:solidFill>
                      <a:srgbClr val="2C5582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LLM drift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Subtle bilingual quality regression (e.g. zh-TW phrasing drift) not detected by the harness.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Phase 2.5 catches gross score drift via per-fixture bounds.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Add per-locale length/character-set assertions; sample human review monthly.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PDF truncation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Appendix-marker heuristic fails on non-standard headings ("Limitations &amp; Discussion", localized headings).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Falls back to keeping the entire PDF (safe but slower / noisier).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Add a TOC-based truncation when bookmarks present; track truncation outcome in tableFigureAnalysis.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Figure extraction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Bounding-box is LLM-estimated; no automatic rendering-quality check before storing the crop.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Two-pass render at different DPIs catches gross blank crops by feel.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Add OCR-presence check; reject crops below an entropy threshold.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Figure storage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PaperFigure.imageBytes (BYTEA) inline — fine at ~30/day; row-size dominates if cadence increases.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Cascade-delete is clean; no orphan blobs.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Move to S3 / R2 with signed URLs; keep figure metadata in DB.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Auth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No identity layer — PaperFeedback.userId is nullable; UI is anonymous.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Read-only V1 — no destructive writes from the UI.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Decide between Clerk / NextAuth before enabling feedback UI.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Source coverage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Only 3 sources hard-coded; quotas fixed at 15 / 5 / 10.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Within-batch dedup handles overlap cleanly.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02C"/>
                          </a:solidFill>
                          <a:latin typeface="Helvetica Neue"/>
                        </a:rPr>
                        <a:t>Make source registry pluggable; pull quotas from config.</a:t>
                      </a:r>
                    </a:p>
                  </a:txBody>
                  <a:tcPr marL="73152" marR="73152" marT="36576" marB="36576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Helvetica Neue"/>
              </a:rPr>
              <a:t>PaperScout · Architecture Review · 2026-05-17 · main @ 73966fc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